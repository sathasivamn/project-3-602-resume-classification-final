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23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72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201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0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15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8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32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6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79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60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9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Resume Classification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sz="3200" b="1" dirty="0">
                <a:solidFill>
                  <a:srgbClr val="92D050"/>
                </a:solidFill>
                <a:latin typeface="Aptos" panose="020B0004020202020204" pitchFamily="34" charset="0"/>
              </a:rPr>
              <a:t>Project - 602</a:t>
            </a:r>
            <a:endParaRPr lang="en-US" sz="3200" dirty="0">
              <a:solidFill>
                <a:srgbClr val="92D05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080" y="2100616"/>
            <a:ext cx="6649017" cy="1356361"/>
          </a:xfrm>
        </p:spPr>
        <p:txBody>
          <a:bodyPr/>
          <a:lstStyle/>
          <a:p>
            <a:r>
              <a:rPr dirty="0"/>
              <a:t>Resume Classification using NLP &amp; Machine Learning</a:t>
            </a:r>
          </a:p>
          <a:p>
            <a:r>
              <a:rPr dirty="0"/>
              <a:t>Automated job-role prediction from resumes</a:t>
            </a:r>
          </a:p>
          <a:p>
            <a:r>
              <a:rPr dirty="0"/>
              <a:t>Built using Python, NLP, ML, Streamlit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1E1C2-AB82-34DE-A1AF-5DCC041B7C0E}"/>
              </a:ext>
            </a:extLst>
          </p:cNvPr>
          <p:cNvSpPr txBox="1"/>
          <p:nvPr/>
        </p:nvSpPr>
        <p:spPr>
          <a:xfrm>
            <a:off x="980080" y="3591633"/>
            <a:ext cx="5909481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lang="en-US" sz="2500" dirty="0">
                <a:solidFill>
                  <a:srgbClr val="002060"/>
                </a:solidFill>
              </a:rPr>
              <a:t>Mentor: </a:t>
            </a:r>
            <a:r>
              <a:rPr lang="en-US" sz="2500" b="1" dirty="0">
                <a:solidFill>
                  <a:srgbClr val="7030A0"/>
                </a:solidFill>
              </a:rPr>
              <a:t>Mr. </a:t>
            </a:r>
            <a:r>
              <a:rPr lang="en-US" sz="2500" b="1" dirty="0" err="1">
                <a:solidFill>
                  <a:srgbClr val="7030A0"/>
                </a:solidFill>
              </a:rPr>
              <a:t>Dilavar</a:t>
            </a:r>
            <a:r>
              <a:rPr lang="en-US" sz="2500" b="1" dirty="0">
                <a:solidFill>
                  <a:srgbClr val="7030A0"/>
                </a:solidFill>
              </a:rPr>
              <a:t> Basha</a:t>
            </a:r>
          </a:p>
          <a:p>
            <a:pPr>
              <a:defRPr sz="1400"/>
            </a:pPr>
            <a:endParaRPr lang="en-US" sz="1600" dirty="0">
              <a:solidFill>
                <a:srgbClr val="002060"/>
              </a:solidFill>
            </a:endParaRPr>
          </a:p>
          <a:p>
            <a:pPr>
              <a:defRPr sz="1400"/>
            </a:pPr>
            <a:r>
              <a:rPr lang="en-US" sz="1600" b="1" dirty="0">
                <a:solidFill>
                  <a:srgbClr val="002060"/>
                </a:solidFill>
                <a:cs typeface="Arial" panose="020B0604020202020204" pitchFamily="34" charset="0"/>
              </a:rPr>
              <a:t>Team: Group 1</a:t>
            </a:r>
          </a:p>
          <a:p>
            <a:pPr>
              <a:defRPr sz="1400"/>
            </a:pPr>
            <a:endParaRPr lang="en-US" sz="1600" b="1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Font typeface="+mj-lt"/>
              <a:buAutoNum type="arabicPeriod"/>
              <a:defRPr sz="1400"/>
            </a:pPr>
            <a:r>
              <a:rPr lang="en-US" sz="1600" b="1" dirty="0">
                <a:solidFill>
                  <a:srgbClr val="00B050"/>
                </a:solidFill>
                <a:cs typeface="Arial" panose="020B0604020202020204" pitchFamily="34" charset="0"/>
              </a:rPr>
              <a:t>Dega Rambabu</a:t>
            </a:r>
          </a:p>
          <a:p>
            <a:pPr marL="342900" indent="-342900">
              <a:spcAft>
                <a:spcPts val="400"/>
              </a:spcAft>
              <a:buFont typeface="+mj-lt"/>
              <a:buAutoNum type="arabicPeriod"/>
              <a:defRPr sz="1400"/>
            </a:pPr>
            <a:r>
              <a:rPr lang="en-US" sz="1600" b="1" dirty="0" err="1">
                <a:solidFill>
                  <a:srgbClr val="00B050"/>
                </a:solidFill>
                <a:cs typeface="Arial" panose="020B0604020202020204" pitchFamily="34" charset="0"/>
              </a:rPr>
              <a:t>Kurava</a:t>
            </a:r>
            <a:r>
              <a:rPr lang="en-US" sz="1600" b="1" dirty="0">
                <a:solidFill>
                  <a:srgbClr val="00B050"/>
                </a:solidFill>
                <a:cs typeface="Arial" panose="020B0604020202020204" pitchFamily="34" charset="0"/>
              </a:rPr>
              <a:t> Ravi Kumar </a:t>
            </a:r>
          </a:p>
          <a:p>
            <a:pPr marL="342900" indent="-342900">
              <a:spcAft>
                <a:spcPts val="400"/>
              </a:spcAft>
              <a:buFont typeface="+mj-lt"/>
              <a:buAutoNum type="arabicPeriod"/>
              <a:defRPr sz="1400"/>
            </a:pPr>
            <a:r>
              <a:rPr lang="en-US" sz="1600" b="1" dirty="0" err="1">
                <a:solidFill>
                  <a:srgbClr val="00B050"/>
                </a:solidFill>
                <a:cs typeface="Arial" panose="020B0604020202020204" pitchFamily="34" charset="0"/>
              </a:rPr>
              <a:t>N.Sathasivam</a:t>
            </a:r>
            <a:endParaRPr lang="en-US" sz="1600" b="1" dirty="0">
              <a:solidFill>
                <a:srgbClr val="00B050"/>
              </a:solidFill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Font typeface="+mj-lt"/>
              <a:buAutoNum type="arabicPeriod"/>
              <a:defRPr sz="1400"/>
            </a:pPr>
            <a:r>
              <a:rPr lang="en-US" sz="1600" b="1" dirty="0">
                <a:solidFill>
                  <a:srgbClr val="00B050"/>
                </a:solidFill>
                <a:cs typeface="Arial" panose="020B0604020202020204" pitchFamily="34" charset="0"/>
              </a:rPr>
              <a:t>Pavan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2" y="2057400"/>
            <a:ext cx="6990212" cy="1982337"/>
          </a:xfrm>
        </p:spPr>
        <p:txBody>
          <a:bodyPr/>
          <a:lstStyle/>
          <a:p>
            <a:endParaRPr dirty="0"/>
          </a:p>
          <a:p>
            <a:r>
              <a:rPr dirty="0"/>
              <a:t>Manual resume screening is slow and inconsistent</a:t>
            </a:r>
          </a:p>
          <a:p>
            <a:r>
              <a:rPr dirty="0"/>
              <a:t>High volume makes human review inefficient</a:t>
            </a:r>
          </a:p>
          <a:p>
            <a:r>
              <a:rPr dirty="0"/>
              <a:t>Project goal: Automate resume classification by job role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Perform complete EDA on resume dataset</a:t>
            </a:r>
          </a:p>
          <a:p>
            <a:r>
              <a:rPr dirty="0"/>
              <a:t>Extract &amp; clean text from PDF/DOCX/DOC</a:t>
            </a:r>
          </a:p>
          <a:p>
            <a:r>
              <a:rPr dirty="0"/>
              <a:t>Train and evaluate multiple ML models</a:t>
            </a:r>
          </a:p>
          <a:p>
            <a:r>
              <a:rPr dirty="0"/>
              <a:t>Deploy best model via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Dataset: resume_classification.zip</a:t>
            </a:r>
          </a:p>
          <a:p>
            <a:r>
              <a:rPr dirty="0"/>
              <a:t>Each folder represents a job category</a:t>
            </a:r>
          </a:p>
          <a:p>
            <a:r>
              <a:rPr dirty="0"/>
              <a:t>Files: PDF, DOC, DOCX formats</a:t>
            </a:r>
          </a:p>
          <a:p>
            <a:r>
              <a:rPr dirty="0"/>
              <a:t>Extracted into a </a:t>
            </a:r>
            <a:r>
              <a:rPr dirty="0" err="1"/>
              <a:t>DataFrame</a:t>
            </a:r>
            <a:r>
              <a:rPr dirty="0"/>
              <a:t> with text + labels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Python, Google </a:t>
            </a:r>
            <a:r>
              <a:rPr dirty="0" err="1"/>
              <a:t>Colab</a:t>
            </a:r>
            <a:endParaRPr dirty="0"/>
          </a:p>
          <a:p>
            <a:r>
              <a:rPr dirty="0"/>
              <a:t>Libraries: pandas, </a:t>
            </a:r>
            <a:r>
              <a:rPr dirty="0" err="1"/>
              <a:t>numpy</a:t>
            </a:r>
            <a:r>
              <a:rPr dirty="0"/>
              <a:t>, </a:t>
            </a:r>
            <a:r>
              <a:rPr dirty="0" err="1"/>
              <a:t>nltk</a:t>
            </a:r>
            <a:r>
              <a:rPr dirty="0"/>
              <a:t>, scikit-learn</a:t>
            </a:r>
          </a:p>
          <a:p>
            <a:r>
              <a:rPr dirty="0"/>
              <a:t>PDF reading: PyPDF2, python-docx, </a:t>
            </a:r>
            <a:r>
              <a:rPr dirty="0" err="1"/>
              <a:t>textract</a:t>
            </a:r>
            <a:endParaRPr dirty="0"/>
          </a:p>
          <a:p>
            <a:r>
              <a:rPr dirty="0"/>
              <a:t>Deployment: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 Extraction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Upload zip file via </a:t>
            </a:r>
            <a:r>
              <a:rPr dirty="0" err="1"/>
              <a:t>files.upload</a:t>
            </a:r>
            <a:r>
              <a:rPr dirty="0"/>
              <a:t>()</a:t>
            </a:r>
          </a:p>
          <a:p>
            <a:r>
              <a:rPr dirty="0"/>
              <a:t>Extract using </a:t>
            </a:r>
            <a:r>
              <a:rPr dirty="0" err="1"/>
              <a:t>zipfile</a:t>
            </a:r>
            <a:endParaRPr dirty="0"/>
          </a:p>
          <a:p>
            <a:r>
              <a:rPr dirty="0"/>
              <a:t>Iterate files with </a:t>
            </a:r>
            <a:r>
              <a:rPr dirty="0" err="1"/>
              <a:t>Path.rglob</a:t>
            </a:r>
            <a:endParaRPr dirty="0"/>
          </a:p>
          <a:p>
            <a:r>
              <a:rPr dirty="0"/>
              <a:t>Build </a:t>
            </a:r>
            <a:r>
              <a:rPr dirty="0" err="1"/>
              <a:t>DataFrame</a:t>
            </a:r>
            <a:r>
              <a:rPr dirty="0"/>
              <a:t> with filename, path, label,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Handling Multiple File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.docx → read with python-docx</a:t>
            </a:r>
          </a:p>
          <a:p>
            <a:r>
              <a:rPr dirty="0"/>
              <a:t>.pdf → read with PyPDF2</a:t>
            </a:r>
          </a:p>
          <a:p>
            <a:r>
              <a:rPr dirty="0"/>
              <a:t>.doc → converted using LibreOffice CLI</a:t>
            </a:r>
          </a:p>
          <a:p>
            <a:r>
              <a:rPr dirty="0"/>
              <a:t>Skipped unreadable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Master </a:t>
            </a:r>
            <a:r>
              <a:rPr dirty="0" err="1"/>
              <a:t>DataFrame</a:t>
            </a:r>
            <a:r>
              <a:rPr dirty="0"/>
              <a:t>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2" y="2057401"/>
            <a:ext cx="6635370" cy="1627496"/>
          </a:xfrm>
        </p:spPr>
        <p:txBody>
          <a:bodyPr/>
          <a:lstStyle/>
          <a:p>
            <a:r>
              <a:rPr dirty="0"/>
              <a:t>Rows collected with filename, </a:t>
            </a:r>
            <a:r>
              <a:rPr dirty="0" err="1"/>
              <a:t>filepath</a:t>
            </a:r>
            <a:r>
              <a:rPr dirty="0"/>
              <a:t>, label, text</a:t>
            </a:r>
          </a:p>
          <a:p>
            <a:r>
              <a:rPr dirty="0"/>
              <a:t>Converted to Pandas </a:t>
            </a:r>
            <a:r>
              <a:rPr dirty="0" err="1"/>
              <a:t>DataFrame</a:t>
            </a:r>
            <a:endParaRPr dirty="0"/>
          </a:p>
          <a:p>
            <a:r>
              <a:rPr dirty="0"/>
              <a:t>Skipped files logged for review</a:t>
            </a:r>
          </a:p>
          <a:p>
            <a:r>
              <a:rPr dirty="0"/>
              <a:t>Ensured adequate data per label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3D54DC-EB13-2328-FCC0-EED2F1670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569" y="3776338"/>
            <a:ext cx="2624708" cy="24436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Initial EDA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770797"/>
            <a:ext cx="7404653" cy="4038600"/>
          </a:xfrm>
        </p:spPr>
        <p:txBody>
          <a:bodyPr/>
          <a:lstStyle/>
          <a:p>
            <a:endParaRPr dirty="0"/>
          </a:p>
          <a:p>
            <a:r>
              <a:rPr dirty="0"/>
              <a:t>Checked total resumes and skipped files</a:t>
            </a:r>
          </a:p>
          <a:p>
            <a:r>
              <a:rPr dirty="0"/>
              <a:t>Observed label distribution</a:t>
            </a:r>
          </a:p>
          <a:p>
            <a:r>
              <a:rPr dirty="0"/>
              <a:t>Found class imbalance in some categories</a:t>
            </a:r>
          </a:p>
          <a:p>
            <a:r>
              <a:rPr dirty="0"/>
              <a:t>Verified text extracted successfully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891654"/>
          </a:xfrm>
        </p:spPr>
        <p:txBody>
          <a:bodyPr/>
          <a:lstStyle/>
          <a:p>
            <a:pPr algn="ctr"/>
            <a:r>
              <a:rPr dirty="0"/>
              <a:t>Label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786" y="1673890"/>
            <a:ext cx="6621722" cy="1356360"/>
          </a:xfrm>
        </p:spPr>
        <p:txBody>
          <a:bodyPr/>
          <a:lstStyle/>
          <a:p>
            <a:r>
              <a:rPr dirty="0"/>
              <a:t>Plotted count per job category</a:t>
            </a:r>
          </a:p>
          <a:p>
            <a:r>
              <a:rPr dirty="0"/>
              <a:t>Observed imbalance</a:t>
            </a:r>
          </a:p>
          <a:p>
            <a:r>
              <a:rPr dirty="0"/>
              <a:t>Macro F1 needed for fair evaluation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1EF00-83DD-7C3B-6B0B-35AE54DA6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11" y="3030250"/>
            <a:ext cx="4653887" cy="30455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276816" cy="673290"/>
          </a:xfrm>
        </p:spPr>
        <p:txBody>
          <a:bodyPr/>
          <a:lstStyle/>
          <a:p>
            <a:pPr algn="ctr"/>
            <a:r>
              <a:rPr dirty="0"/>
              <a:t>Text Length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674" y="1282890"/>
            <a:ext cx="6868608" cy="1583140"/>
          </a:xfrm>
        </p:spPr>
        <p:txBody>
          <a:bodyPr/>
          <a:lstStyle/>
          <a:p>
            <a:r>
              <a:rPr dirty="0"/>
              <a:t>Computed word/character counts</a:t>
            </a:r>
          </a:p>
          <a:p>
            <a:r>
              <a:rPr dirty="0"/>
              <a:t>Plotted histogram of word distribution</a:t>
            </a:r>
          </a:p>
          <a:p>
            <a:r>
              <a:rPr dirty="0"/>
              <a:t>Found typical resume lengths</a:t>
            </a:r>
          </a:p>
          <a:p>
            <a:r>
              <a:rPr dirty="0"/>
              <a:t>Identified outliers (too short)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5BA89-F027-2B25-732E-584EA395B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56" y="2866030"/>
            <a:ext cx="5751181" cy="35817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741528"/>
          </a:xfrm>
        </p:spPr>
        <p:txBody>
          <a:bodyPr/>
          <a:lstStyle/>
          <a:p>
            <a:pPr algn="ctr"/>
            <a:r>
              <a:rPr dirty="0"/>
              <a:t>Text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433" y="1511489"/>
            <a:ext cx="6799143" cy="1668439"/>
          </a:xfrm>
        </p:spPr>
        <p:txBody>
          <a:bodyPr/>
          <a:lstStyle/>
          <a:p>
            <a:r>
              <a:rPr dirty="0"/>
              <a:t>Lowercasing text</a:t>
            </a:r>
          </a:p>
          <a:p>
            <a:r>
              <a:rPr dirty="0"/>
              <a:t>Removing URLs, special characters, mentions</a:t>
            </a:r>
          </a:p>
          <a:p>
            <a:r>
              <a:rPr dirty="0"/>
              <a:t>Whitespace normalization</a:t>
            </a:r>
          </a:p>
          <a:p>
            <a:r>
              <a:rPr dirty="0"/>
              <a:t>Stored as </a:t>
            </a:r>
            <a:r>
              <a:rPr dirty="0" err="1"/>
              <a:t>cleantext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06DCE-2B03-B0B6-0E61-8369723A9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33" y="3062556"/>
            <a:ext cx="4492671" cy="31503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878006"/>
          </a:xfrm>
        </p:spPr>
        <p:txBody>
          <a:bodyPr/>
          <a:lstStyle/>
          <a:p>
            <a:pPr algn="ctr"/>
            <a:r>
              <a:rPr dirty="0" err="1"/>
              <a:t>Stopword</a:t>
            </a:r>
            <a:r>
              <a:rPr dirty="0"/>
              <a:t>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702558"/>
            <a:ext cx="6949269" cy="1586552"/>
          </a:xfrm>
        </p:spPr>
        <p:txBody>
          <a:bodyPr/>
          <a:lstStyle/>
          <a:p>
            <a:r>
              <a:rPr dirty="0"/>
              <a:t>Used NLTK </a:t>
            </a:r>
            <a:r>
              <a:rPr dirty="0" err="1"/>
              <a:t>stopwords</a:t>
            </a:r>
            <a:endParaRPr dirty="0"/>
          </a:p>
          <a:p>
            <a:r>
              <a:rPr dirty="0"/>
              <a:t>Tokenized text</a:t>
            </a:r>
          </a:p>
          <a:p>
            <a:r>
              <a:rPr dirty="0"/>
              <a:t>Removed common English </a:t>
            </a:r>
            <a:r>
              <a:rPr dirty="0" err="1"/>
              <a:t>stopwords</a:t>
            </a:r>
            <a:endParaRPr dirty="0"/>
          </a:p>
          <a:p>
            <a:r>
              <a:rPr dirty="0"/>
              <a:t>Created alternative column clean</a:t>
            </a:r>
            <a:r>
              <a:rPr lang="en-US" dirty="0"/>
              <a:t>-</a:t>
            </a:r>
            <a:r>
              <a:rPr dirty="0"/>
              <a:t>text</a:t>
            </a:r>
            <a:r>
              <a:rPr lang="en-US" dirty="0"/>
              <a:t> </a:t>
            </a:r>
            <a:r>
              <a:rPr dirty="0" err="1"/>
              <a:t>nostop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2F30BA-65FA-F876-69A0-F5E6CE238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390" y="3289110"/>
            <a:ext cx="2309031" cy="31057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4653" cy="796119"/>
          </a:xfrm>
        </p:spPr>
        <p:txBody>
          <a:bodyPr/>
          <a:lstStyle/>
          <a:p>
            <a:pPr algn="ctr"/>
            <a:r>
              <a:rPr dirty="0"/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434" y="1579728"/>
            <a:ext cx="6840086" cy="1695734"/>
          </a:xfrm>
        </p:spPr>
        <p:txBody>
          <a:bodyPr/>
          <a:lstStyle/>
          <a:p>
            <a:r>
              <a:rPr dirty="0"/>
              <a:t>X = cleaned text</a:t>
            </a:r>
          </a:p>
          <a:p>
            <a:r>
              <a:rPr dirty="0"/>
              <a:t>y = job category</a:t>
            </a:r>
          </a:p>
          <a:p>
            <a:r>
              <a:rPr dirty="0"/>
              <a:t>Prepared dataset for ML pipeline</a:t>
            </a:r>
          </a:p>
          <a:p>
            <a:r>
              <a:rPr dirty="0"/>
              <a:t>Checked missing values, sanity checks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D828C-9406-FD6B-EF3C-7071B2588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34" y="3802919"/>
            <a:ext cx="4479023" cy="23553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A49D69-93A7-D6FF-813B-673AFD9845F0}"/>
              </a:ext>
            </a:extLst>
          </p:cNvPr>
          <p:cNvSpPr txBox="1"/>
          <p:nvPr/>
        </p:nvSpPr>
        <p:spPr>
          <a:xfrm>
            <a:off x="966434" y="3344653"/>
            <a:ext cx="6212288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</a:rPr>
              <a:t>Clean text and create features useful for EDA and modeling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114397"/>
          </a:xfrm>
        </p:spPr>
        <p:txBody>
          <a:bodyPr/>
          <a:lstStyle/>
          <a:p>
            <a:pPr algn="ctr"/>
            <a:r>
              <a:rPr dirty="0"/>
              <a:t>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435" y="1784046"/>
            <a:ext cx="6840086" cy="1682087"/>
          </a:xfrm>
        </p:spPr>
        <p:txBody>
          <a:bodyPr/>
          <a:lstStyle/>
          <a:p>
            <a:r>
              <a:rPr dirty="0"/>
              <a:t>Used 80/20 split</a:t>
            </a:r>
          </a:p>
          <a:p>
            <a:r>
              <a:rPr dirty="0"/>
              <a:t>Stratified by labels</a:t>
            </a:r>
          </a:p>
          <a:p>
            <a:r>
              <a:rPr dirty="0"/>
              <a:t>Random state = 42</a:t>
            </a:r>
          </a:p>
          <a:p>
            <a:r>
              <a:rPr dirty="0"/>
              <a:t>Ensured representative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B96D7-F889-26CE-2AF6-8B233A356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398" y="3677104"/>
            <a:ext cx="4565390" cy="24304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276816" cy="850710"/>
          </a:xfrm>
        </p:spPr>
        <p:txBody>
          <a:bodyPr/>
          <a:lstStyle/>
          <a:p>
            <a:pPr algn="ctr"/>
            <a:r>
              <a:rPr dirty="0"/>
              <a:t>TF-IDF Vectorization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110" y="1583140"/>
            <a:ext cx="6826439" cy="1723030"/>
          </a:xfrm>
        </p:spPr>
        <p:txBody>
          <a:bodyPr/>
          <a:lstStyle/>
          <a:p>
            <a:r>
              <a:rPr dirty="0"/>
              <a:t>Used bigrams + unigrams</a:t>
            </a:r>
          </a:p>
          <a:p>
            <a:r>
              <a:rPr dirty="0" err="1"/>
              <a:t>ngram_range</a:t>
            </a:r>
            <a:r>
              <a:rPr dirty="0"/>
              <a:t> = (1,2)</a:t>
            </a:r>
          </a:p>
          <a:p>
            <a:r>
              <a:rPr dirty="0" err="1"/>
              <a:t>max_df</a:t>
            </a:r>
            <a:r>
              <a:rPr dirty="0"/>
              <a:t> = 0.95, </a:t>
            </a:r>
            <a:r>
              <a:rPr dirty="0" err="1"/>
              <a:t>min_df</a:t>
            </a:r>
            <a:r>
              <a:rPr dirty="0"/>
              <a:t> = 2</a:t>
            </a:r>
          </a:p>
          <a:p>
            <a:r>
              <a:rPr dirty="0"/>
              <a:t>Vocabulary limited to 15,000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723533-9303-6EDA-F26F-7FB01FEB7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08" y="3429000"/>
            <a:ext cx="4760438" cy="30245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837063"/>
          </a:xfrm>
        </p:spPr>
        <p:txBody>
          <a:bodyPr/>
          <a:lstStyle/>
          <a:p>
            <a:pPr algn="ctr"/>
            <a:r>
              <a:rPr dirty="0"/>
              <a:t>Pipeline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675262"/>
            <a:ext cx="6990212" cy="1791269"/>
          </a:xfrm>
        </p:spPr>
        <p:txBody>
          <a:bodyPr/>
          <a:lstStyle/>
          <a:p>
            <a:r>
              <a:rPr dirty="0"/>
              <a:t>Scikit-learn Pipeline used</a:t>
            </a:r>
          </a:p>
          <a:p>
            <a:r>
              <a:rPr dirty="0"/>
              <a:t>Includes TF-IDF + classifier</a:t>
            </a:r>
          </a:p>
          <a:p>
            <a:r>
              <a:rPr dirty="0"/>
              <a:t>Ensures easy deployment and saving</a:t>
            </a:r>
          </a:p>
          <a:p>
            <a:r>
              <a:rPr dirty="0"/>
              <a:t>Applied same preprocessing during inference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CE260-CB71-6C9F-2A9C-D4154618E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322" y="3466531"/>
            <a:ext cx="3866511" cy="2863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4653" cy="891654"/>
          </a:xfrm>
        </p:spPr>
        <p:txBody>
          <a:bodyPr/>
          <a:lstStyle/>
          <a:p>
            <a:pPr algn="ctr"/>
            <a:r>
              <a:rPr dirty="0"/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082" y="1543903"/>
            <a:ext cx="6717256" cy="2303923"/>
          </a:xfrm>
        </p:spPr>
        <p:txBody>
          <a:bodyPr/>
          <a:lstStyle/>
          <a:p>
            <a:r>
              <a:rPr dirty="0"/>
              <a:t>Logistic Regression</a:t>
            </a:r>
          </a:p>
          <a:p>
            <a:r>
              <a:rPr dirty="0"/>
              <a:t>Multinomial Naive Bayes</a:t>
            </a:r>
          </a:p>
          <a:p>
            <a:r>
              <a:rPr dirty="0"/>
              <a:t>Linear SVC</a:t>
            </a:r>
          </a:p>
          <a:p>
            <a:r>
              <a:rPr dirty="0"/>
              <a:t>Random Forest</a:t>
            </a:r>
          </a:p>
          <a:p>
            <a:r>
              <a:rPr dirty="0"/>
              <a:t>All trained with same TF-IDF features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C7C07E-FBC2-B74D-8572-9000A235B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11" y="3847826"/>
            <a:ext cx="5360498" cy="24605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Evaluation Metrics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1" y="1702558"/>
            <a:ext cx="7017508" cy="188680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Accuracy Score</a:t>
            </a:r>
          </a:p>
          <a:p>
            <a:r>
              <a:rPr dirty="0"/>
              <a:t>Macro F1-score (due to class imbalance)</a:t>
            </a:r>
          </a:p>
          <a:p>
            <a:r>
              <a:rPr dirty="0"/>
              <a:t>Classification Report</a:t>
            </a:r>
          </a:p>
          <a:p>
            <a:r>
              <a:rPr dirty="0"/>
              <a:t>Confusion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272380-1D4A-A580-222D-5543148BE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945" y="3769554"/>
            <a:ext cx="5695950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Model Comparison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647124"/>
            <a:ext cx="6995220" cy="1955885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Results stored in </a:t>
            </a:r>
            <a:r>
              <a:rPr dirty="0" err="1"/>
              <a:t>res_df</a:t>
            </a:r>
            <a:endParaRPr dirty="0"/>
          </a:p>
          <a:p>
            <a:r>
              <a:rPr dirty="0"/>
              <a:t>Sorted by macro F1</a:t>
            </a:r>
          </a:p>
          <a:p>
            <a:r>
              <a:rPr dirty="0"/>
              <a:t>Visualized with bar plots</a:t>
            </a:r>
          </a:p>
          <a:p>
            <a:r>
              <a:rPr dirty="0"/>
              <a:t>Identified top-performing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12D90C-8771-0316-D1D7-0CF1F3FD9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30" y="3610828"/>
            <a:ext cx="5095875" cy="26955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973540"/>
          </a:xfrm>
        </p:spPr>
        <p:txBody>
          <a:bodyPr/>
          <a:lstStyle/>
          <a:p>
            <a:pPr algn="ctr"/>
            <a:r>
              <a:rPr dirty="0"/>
              <a:t>Confusion Matrix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730" y="1583141"/>
            <a:ext cx="5898389" cy="1514901"/>
          </a:xfrm>
        </p:spPr>
        <p:txBody>
          <a:bodyPr>
            <a:normAutofit lnSpcReduction="10000"/>
          </a:bodyPr>
          <a:lstStyle/>
          <a:p>
            <a:r>
              <a:rPr dirty="0"/>
              <a:t>Plotted using seaborn heatmap</a:t>
            </a:r>
          </a:p>
          <a:p>
            <a:r>
              <a:rPr dirty="0"/>
              <a:t>Identified misclassified categories</a:t>
            </a:r>
          </a:p>
          <a:p>
            <a:r>
              <a:rPr dirty="0"/>
              <a:t>Highlighted overlapping roles</a:t>
            </a:r>
          </a:p>
          <a:p>
            <a:r>
              <a:rPr dirty="0"/>
              <a:t>Used insights for improvement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1BF78-1AD3-07BE-8BFE-D5DD4C661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406" y="3098042"/>
            <a:ext cx="5095221" cy="31421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Best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1025" y="1607024"/>
            <a:ext cx="6539836" cy="2241645"/>
          </a:xfrm>
        </p:spPr>
        <p:txBody>
          <a:bodyPr/>
          <a:lstStyle/>
          <a:p>
            <a:endParaRPr dirty="0"/>
          </a:p>
          <a:p>
            <a:r>
              <a:rPr dirty="0"/>
              <a:t>Best model selected using Macro F1</a:t>
            </a:r>
          </a:p>
          <a:p>
            <a:r>
              <a:rPr dirty="0"/>
              <a:t>Commonly Linear SVC or Logistic Regression</a:t>
            </a:r>
          </a:p>
          <a:p>
            <a:r>
              <a:rPr dirty="0"/>
              <a:t>Extracted best pipeline</a:t>
            </a:r>
          </a:p>
          <a:p>
            <a:r>
              <a:rPr dirty="0"/>
              <a:t>Prepared for saving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A6717-CFBA-E3C7-E0E9-440529ED4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25" y="3860255"/>
            <a:ext cx="6089459" cy="25465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8916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Multi-class ROC curve for Logistic Regression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856" y="1604064"/>
            <a:ext cx="2897108" cy="4482837"/>
          </a:xfrm>
        </p:spPr>
        <p:txBody>
          <a:bodyPr>
            <a:normAutofit/>
          </a:bodyPr>
          <a:lstStyle/>
          <a:p>
            <a:r>
              <a:rPr lang="en-US" dirty="0"/>
              <a:t>We plotted multi-class ROC curves using a one-vs-rest strategy for the Logistic Regression model, computing ROC and AUC for each class as well as micro- and macro-average ROC. The macro ROC-AUC score was approximately </a:t>
            </a:r>
            <a:r>
              <a:rPr lang="en-US" b="1" dirty="0"/>
              <a:t>1.00</a:t>
            </a:r>
            <a:r>
              <a:rPr lang="en-US" dirty="0"/>
              <a:t>, indicating strong discriminative performance across categories.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26C87E-6613-C236-28F9-E058C14C3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265" y="1604064"/>
            <a:ext cx="4341881" cy="43327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Streamlit App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1" y="1757150"/>
            <a:ext cx="6335120" cy="1671850"/>
          </a:xfrm>
        </p:spPr>
        <p:txBody>
          <a:bodyPr/>
          <a:lstStyle/>
          <a:p>
            <a:r>
              <a:rPr dirty="0"/>
              <a:t>app.py loads </a:t>
            </a:r>
            <a:r>
              <a:rPr dirty="0" err="1"/>
              <a:t>best_model.pkl</a:t>
            </a:r>
            <a:endParaRPr dirty="0"/>
          </a:p>
          <a:p>
            <a:r>
              <a:rPr dirty="0"/>
              <a:t>User uploads resume file</a:t>
            </a:r>
          </a:p>
          <a:p>
            <a:r>
              <a:rPr dirty="0"/>
              <a:t>Performs text extraction + preprocessing</a:t>
            </a:r>
          </a:p>
          <a:p>
            <a:r>
              <a:rPr dirty="0"/>
              <a:t>Predicts and displays job category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97B518-4A12-EF15-ED80-F1ABF6E08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67" y="3836842"/>
            <a:ext cx="6190887" cy="216817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932597"/>
          </a:xfrm>
        </p:spPr>
        <p:txBody>
          <a:bodyPr/>
          <a:lstStyle/>
          <a:p>
            <a:pPr algn="ctr"/>
            <a:r>
              <a:rPr lang="en-US" dirty="0"/>
              <a:t>Streamlit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674" y="1661615"/>
            <a:ext cx="7100620" cy="1586552"/>
          </a:xfrm>
        </p:spPr>
        <p:txBody>
          <a:bodyPr/>
          <a:lstStyle/>
          <a:p>
            <a:r>
              <a:rPr dirty="0"/>
              <a:t>Upload → Extract → Clean → Predict</a:t>
            </a:r>
          </a:p>
          <a:p>
            <a:r>
              <a:rPr dirty="0"/>
              <a:t>Supports PDF/DOCX/TXT</a:t>
            </a:r>
          </a:p>
          <a:p>
            <a:r>
              <a:rPr dirty="0"/>
              <a:t>Displays prediction and optional confidence</a:t>
            </a:r>
          </a:p>
          <a:p>
            <a:r>
              <a:rPr dirty="0"/>
              <a:t>Simple &amp; user-friendly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FF113-69C8-395E-221C-7853C1A9C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00" y="3363400"/>
            <a:ext cx="6063389" cy="2885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4653" cy="837063"/>
          </a:xfrm>
        </p:spPr>
        <p:txBody>
          <a:bodyPr/>
          <a:lstStyle/>
          <a:p>
            <a:pPr algn="ctr"/>
            <a:r>
              <a:rPr dirty="0"/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655" y="1647968"/>
            <a:ext cx="7126689" cy="2146110"/>
          </a:xfrm>
        </p:spPr>
        <p:txBody>
          <a:bodyPr/>
          <a:lstStyle/>
          <a:p>
            <a:endParaRPr lang="en-US" dirty="0"/>
          </a:p>
          <a:p>
            <a:r>
              <a:rPr dirty="0"/>
              <a:t>Handling PDF/DOC/DOCX extraction issues</a:t>
            </a:r>
          </a:p>
          <a:p>
            <a:r>
              <a:rPr dirty="0"/>
              <a:t>Empty or poorly scanned PDFs</a:t>
            </a:r>
          </a:p>
          <a:p>
            <a:r>
              <a:rPr dirty="0"/>
              <a:t>Environment dependency conflicts</a:t>
            </a:r>
          </a:p>
          <a:p>
            <a:r>
              <a:rPr dirty="0"/>
              <a:t>Class imbalance affecting evaluation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1" y="2057400"/>
            <a:ext cx="7167633" cy="3074158"/>
          </a:xfrm>
        </p:spPr>
        <p:txBody>
          <a:bodyPr/>
          <a:lstStyle/>
          <a:p>
            <a:endParaRPr dirty="0"/>
          </a:p>
          <a:p>
            <a:r>
              <a:rPr dirty="0"/>
              <a:t>Successfully automated resume classification</a:t>
            </a:r>
          </a:p>
          <a:p>
            <a:r>
              <a:rPr dirty="0"/>
              <a:t>NLP + ML pipeline built end-to-end</a:t>
            </a:r>
          </a:p>
          <a:p>
            <a:r>
              <a:rPr dirty="0"/>
              <a:t>Multiple models trained and compared</a:t>
            </a:r>
          </a:p>
          <a:p>
            <a:r>
              <a:rPr dirty="0"/>
              <a:t>Deployed best model with Streamlit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Key Takeaways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2" y="2057400"/>
            <a:ext cx="7194928" cy="2364475"/>
          </a:xfrm>
        </p:spPr>
        <p:txBody>
          <a:bodyPr/>
          <a:lstStyle/>
          <a:p>
            <a:endParaRPr dirty="0"/>
          </a:p>
          <a:p>
            <a:r>
              <a:rPr dirty="0"/>
              <a:t>Importance of text preprocessing</a:t>
            </a:r>
          </a:p>
          <a:p>
            <a:r>
              <a:rPr dirty="0"/>
              <a:t>Pipeline simplifies production use</a:t>
            </a:r>
          </a:p>
          <a:p>
            <a:r>
              <a:rPr dirty="0"/>
              <a:t>Future: Try BERT embeddings</a:t>
            </a:r>
          </a:p>
          <a:p>
            <a:r>
              <a:rPr dirty="0"/>
              <a:t>Add explainability &amp; bulk prediction support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DC6D6-7BE3-41D7-703D-B1F41BB9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EEABA-1D7A-F35D-06ED-4CD55C422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42C3EF-C40B-F110-632E-EB9C48AE4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365" y="2193876"/>
            <a:ext cx="6949269" cy="3908964"/>
          </a:xfrm>
        </p:spPr>
      </p:pic>
    </p:spTree>
    <p:extLst>
      <p:ext uri="{BB962C8B-B14F-4D97-AF65-F5344CB8AC3E}">
        <p14:creationId xmlns:p14="http://schemas.microsoft.com/office/powerpoint/2010/main" val="16493892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114</TotalTime>
  <Words>692</Words>
  <Application>Microsoft Office PowerPoint</Application>
  <PresentationFormat>On-screen Show (4:3)</PresentationFormat>
  <Paragraphs>158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Corbel</vt:lpstr>
      <vt:lpstr>Courier New</vt:lpstr>
      <vt:lpstr>Basis</vt:lpstr>
      <vt:lpstr>Resume Classification Project - 602</vt:lpstr>
      <vt:lpstr>Problem Statement</vt:lpstr>
      <vt:lpstr>Project Objectives</vt:lpstr>
      <vt:lpstr>Dataset Overview</vt:lpstr>
      <vt:lpstr>Tools &amp; Technologies</vt:lpstr>
      <vt:lpstr>Data Extraction Workflow</vt:lpstr>
      <vt:lpstr>Handling Multiple File Formats</vt:lpstr>
      <vt:lpstr>Master DataFrame Creation</vt:lpstr>
      <vt:lpstr>Initial EDA Summary</vt:lpstr>
      <vt:lpstr>Label Distribution</vt:lpstr>
      <vt:lpstr>Text Length Analysis</vt:lpstr>
      <vt:lpstr>Text Cleaning Steps</vt:lpstr>
      <vt:lpstr>Stopword Removal</vt:lpstr>
      <vt:lpstr>Feature Selection</vt:lpstr>
      <vt:lpstr>Train-Test Split</vt:lpstr>
      <vt:lpstr>TF-IDF Vectorization</vt:lpstr>
      <vt:lpstr>Pipeline Design</vt:lpstr>
      <vt:lpstr>Models Evaluated</vt:lpstr>
      <vt:lpstr>Evaluation Metrics Used</vt:lpstr>
      <vt:lpstr>Model Comparison Results</vt:lpstr>
      <vt:lpstr>Confusion Matrix Insights</vt:lpstr>
      <vt:lpstr>Best Model Selection</vt:lpstr>
      <vt:lpstr>Multi-class ROC curve for Logistic Regression</vt:lpstr>
      <vt:lpstr>Streamlit App Overview</vt:lpstr>
      <vt:lpstr>Streamlit Workflow</vt:lpstr>
      <vt:lpstr>Challenges Faced</vt:lpstr>
      <vt:lpstr>Conclusion</vt:lpstr>
      <vt:lpstr>Key Takeaways &amp; 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Sathasivam N</cp:lastModifiedBy>
  <cp:revision>8</cp:revision>
  <dcterms:created xsi:type="dcterms:W3CDTF">2013-01-27T09:14:16Z</dcterms:created>
  <dcterms:modified xsi:type="dcterms:W3CDTF">2025-12-06T10:02:05Z</dcterms:modified>
  <cp:category/>
</cp:coreProperties>
</file>